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a:spAutoFit/>
          </a:bodyPr>
          <a:lstStyle/>
          <a:p>
            <a:pPr algn="l"/>
            <a:r>
              <a:rPr sz="3200" b="0">
                <a:solidFill>
                  <a:srgbClr val="000000"/>
                </a:solidFill>
                <a:latin typeface="Yu Gothic"/>
              </a:rPr>
              <a:t>表1の再確認</a:t>
            </a:r>
          </a:p>
        </p:txBody>
      </p:sp>
      <p:graphicFrame>
        <p:nvGraphicFramePr>
          <p:cNvPr id="3" name="Table 2"/>
          <p:cNvGraphicFramePr>
            <a:graphicFrameLocks noGrp="1"/>
          </p:cNvGraphicFramePr>
          <p:nvPr/>
        </p:nvGraphicFramePr>
        <p:xfrm>
          <a:off x="731520" y="1280160"/>
          <a:ext cx="10698480" cy="4206240"/>
        </p:xfrm>
        <a:graphic>
          <a:graphicData uri="http://schemas.openxmlformats.org/drawingml/2006/table">
            <a:tbl>
              <a:tblPr firstRow="1" bandRow="1">
                <a:tableStyleId>{00000000-0000-0000-0000-000000000000}</a:tableStyleId>
              </a:tblPr>
              <a:tblGrid>
                <a:gridCol w="4114800"/>
                <a:gridCol w="822960"/>
                <a:gridCol w="1737360"/>
                <a:gridCol w="2011680"/>
                <a:gridCol w="2011680"/>
              </a:tblGrid>
              <a:tr h="600891">
                <a:tc>
                  <a:txBody>
                    <a:bodyPr/>
                    <a:lstStyle/>
                    <a:p>
                      <a:pPr algn="ctr"/>
                      <a:r>
                        <a:rPr sz="1500" b="1">
                          <a:latin typeface="Yu Gothic"/>
                        </a:rPr>
                        <a:t>プロトコル</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500" b="1">
                          <a:latin typeface="Yu Gothic"/>
                        </a:rPr>
                        <a:t>枚数</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500" b="1">
                          <a:latin typeface="Yu Gothic"/>
                        </a:rPr>
                        <a:t>有限回数か？</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500" b="1">
                          <a:latin typeface="Yu Gothic"/>
                        </a:rPr>
                        <a:t>閉じているか？</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500" b="1">
                          <a:latin typeface="Yu Gothic"/>
                        </a:rPr>
                        <a:t>一様分布か？</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r>
              <a:tr h="600891">
                <a:tc>
                  <a:txBody>
                    <a:bodyPr/>
                    <a:lstStyle/>
                    <a:p>
                      <a:pPr algn="l"/>
                      <a:r>
                        <a:rPr sz="1400">
                          <a:latin typeface="Yu Gothic"/>
                        </a:rPr>
                        <a:t>Crépeau-Kilian, 1993</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10</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no</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yes</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yes</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r>
              <a:tr h="600891">
                <a:tc>
                  <a:txBody>
                    <a:bodyPr/>
                    <a:lstStyle/>
                    <a:p>
                      <a:pPr algn="l"/>
                      <a:r>
                        <a:rPr sz="1400">
                          <a:latin typeface="Yu Gothic"/>
                        </a:rPr>
                        <a:t>Niemi-Renvall, 1998</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12</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no</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yes</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yes</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r>
              <a:tr h="600891">
                <a:tc>
                  <a:txBody>
                    <a:bodyPr/>
                    <a:lstStyle/>
                    <a:p>
                      <a:pPr algn="l"/>
                      <a:r>
                        <a:rPr sz="1400">
                          <a:latin typeface="Yu Gothic"/>
                        </a:rPr>
                        <a:t>Stiglic, 2001</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8</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no</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yes</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yes</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r>
              <a:tr h="600891">
                <a:tc>
                  <a:txBody>
                    <a:bodyPr/>
                    <a:lstStyle/>
                    <a:p>
                      <a:pPr algn="l"/>
                      <a:r>
                        <a:rPr sz="1400">
                          <a:latin typeface="Yu Gothic"/>
                        </a:rPr>
                        <a:t>Mizuki-Sone, 2009</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6</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yes</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yes</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yes</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r>
              <a:tr h="600891">
                <a:tc>
                  <a:txBody>
                    <a:bodyPr/>
                    <a:lstStyle/>
                    <a:p>
                      <a:pPr algn="l"/>
                      <a:r>
                        <a:rPr sz="1400">
                          <a:latin typeface="Yu Gothic"/>
                        </a:rPr>
                        <a:t>Koch-Walzer-Härtel, 2015 (4枚)</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4</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no</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yes</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no</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r>
              <a:tr h="600894">
                <a:tc>
                  <a:txBody>
                    <a:bodyPr/>
                    <a:lstStyle/>
                    <a:p>
                      <a:pPr algn="l"/>
                      <a:r>
                        <a:rPr sz="1400">
                          <a:latin typeface="Yu Gothic"/>
                        </a:rPr>
                        <a:t>Koch-Walzer-Härtel, 2015 (5枚)</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5</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yes</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no</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c>
                  <a:txBody>
                    <a:bodyPr/>
                    <a:lstStyle/>
                    <a:p>
                      <a:pPr algn="ctr"/>
                      <a:r>
                        <a:rPr sz="1400">
                          <a:latin typeface="Yu Gothic"/>
                        </a:rPr>
                        <a:t>no</a:t>
                      </a:r>
                    </a:p>
                  </a:txBody>
                  <a:tcPr>
                    <a:noFill/>
                    <a:lnL w="12700" cap="flat" cmpd="sng">
                      <a:solidFill>
                        <a:srgbClr val="000000"/>
                      </a:solidFill>
                      <a:prstDash val="solid"/>
                    </a:lnL>
                    <a:lnR w="12700" cap="flat" cmpd="sng">
                      <a:solidFill>
                        <a:srgbClr val="000000"/>
                      </a:solidFill>
                      <a:prstDash val="solid"/>
                    </a:lnR>
                    <a:lnT w="12700" cap="flat" cmpd="sng">
                      <a:solidFill>
                        <a:srgbClr val="000000"/>
                      </a:solidFill>
                      <a:prstDash val="solid"/>
                    </a:lnT>
                    <a:lnB w="12700" cap="flat" cmpd="sng">
                      <a:solidFill>
                        <a:srgbClr val="000000"/>
                      </a:solidFill>
                      <a:prstDash val="solid"/>
                    </a:lnB>
                  </a:tcPr>
                </a:tc>
              </a:tr>
            </a:tbl>
          </a:graphicData>
        </a:graphic>
      </p:graphicFrame>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a:spAutoFit/>
          </a:bodyPr>
          <a:lstStyle/>
          <a:p>
            <a:pPr algn="l"/>
            <a:r>
              <a:rPr sz="3200" b="0">
                <a:solidFill>
                  <a:srgbClr val="000000"/>
                </a:solidFill>
                <a:latin typeface="Yu Gothic"/>
              </a:rPr>
              <a:t>表1から読み取れること</a:t>
            </a:r>
          </a:p>
        </p:txBody>
      </p:sp>
      <p:sp>
        <p:nvSpPr>
          <p:cNvPr id="3" name="TextBox 2"/>
          <p:cNvSpPr txBox="1"/>
          <p:nvPr/>
        </p:nvSpPr>
        <p:spPr>
          <a:xfrm>
            <a:off x="731520" y="1371600"/>
            <a:ext cx="10698480" cy="5029200"/>
          </a:xfrm>
          <a:prstGeom prst="rect">
            <a:avLst/>
          </a:prstGeom>
          <a:noFill/>
        </p:spPr>
        <p:txBody>
          <a:bodyPr wrap="square">
            <a:spAutoFit/>
          </a:bodyPr>
          <a:lstStyle/>
          <a:p>
            <a:pPr>
              <a:spcBef>
                <a:spcPts val="800"/>
              </a:spcBef>
            </a:pPr>
            <a:r>
              <a:rPr sz="2100" b="0">
                <a:solidFill>
                  <a:srgbClr val="000000"/>
                </a:solidFill>
                <a:latin typeface="Yu Gothic"/>
              </a:rPr>
              <a:t>・2009年までの4つのプロトコルは「閉じているか？」「一様分布か？」が全て yes</a:t>
            </a:r>
          </a:p>
          <a:p>
            <a:pPr>
              <a:spcBef>
                <a:spcPts val="800"/>
              </a:spcBef>
            </a:pPr>
            <a:r>
              <a:rPr sz="1900" b="0">
                <a:solidFill>
                  <a:srgbClr val="000000"/>
                </a:solidFill>
                <a:latin typeface="Yu Gothic"/>
              </a:rPr>
              <a:t>  → ランダムカットまたはランダム二等分割カットのみを使用</a:t>
            </a:r>
          </a:p>
          <a:p>
            <a:pPr>
              <a:spcBef>
                <a:spcPts val="800"/>
              </a:spcBef>
            </a:pPr>
            <a:r>
              <a:rPr sz="1000" b="0">
                <a:solidFill>
                  <a:srgbClr val="000000"/>
                </a:solidFill>
                <a:latin typeface="Yu Gothic"/>
              </a:rPr>
              <a:t/>
            </a:r>
          </a:p>
          <a:p>
            <a:pPr>
              <a:spcBef>
                <a:spcPts val="800"/>
              </a:spcBef>
            </a:pPr>
            <a:r>
              <a:rPr sz="2100" b="0">
                <a:solidFill>
                  <a:srgbClr val="000000"/>
                </a:solidFill>
                <a:latin typeface="Yu Gothic"/>
              </a:rPr>
              <a:t>・Koch-Walzer-Härtelのプロトコルは「閉じていない」または「一様でない」シャッフルを使用</a:t>
            </a:r>
          </a:p>
          <a:p>
            <a:pPr>
              <a:spcBef>
                <a:spcPts val="800"/>
              </a:spcBef>
            </a:pPr>
            <a:r>
              <a:rPr sz="1900" b="0">
                <a:solidFill>
                  <a:srgbClr val="000000"/>
                </a:solidFill>
                <a:latin typeface="Yu Gothic"/>
              </a:rPr>
              <a:t>  → 確率が均等でないシャッフルは、人間が実際に実装するのが難しい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a:spAutoFit/>
          </a:bodyPr>
          <a:lstStyle/>
          <a:p>
            <a:pPr algn="l"/>
            <a:r>
              <a:rPr sz="3200" b="0">
                <a:solidFill>
                  <a:srgbClr val="000000"/>
                </a:solidFill>
                <a:latin typeface="Yu Gothic"/>
              </a:rPr>
              <a:t>未解決問題</a:t>
            </a:r>
          </a:p>
        </p:txBody>
      </p:sp>
      <p:sp>
        <p:nvSpPr>
          <p:cNvPr id="3" name="TextBox 2"/>
          <p:cNvSpPr txBox="1"/>
          <p:nvPr/>
        </p:nvSpPr>
        <p:spPr>
          <a:xfrm>
            <a:off x="731520" y="1371600"/>
            <a:ext cx="10698480" cy="731520"/>
          </a:xfrm>
          <a:prstGeom prst="rect">
            <a:avLst/>
          </a:prstGeom>
          <a:noFill/>
        </p:spPr>
        <p:txBody>
          <a:bodyPr wrap="square">
            <a:spAutoFit/>
          </a:bodyPr>
          <a:lstStyle/>
          <a:p>
            <a:pPr algn="l"/>
            <a:r>
              <a:rPr sz="2000" b="0">
                <a:solidFill>
                  <a:srgbClr val="000000"/>
                </a:solidFill>
                <a:latin typeface="Yu Gothic"/>
              </a:rPr>
              <a:t>以上の背景から、この研究分野の最も興味深い未解決問題の一つが生じる。</a:t>
            </a:r>
          </a:p>
        </p:txBody>
      </p:sp>
      <p:sp>
        <p:nvSpPr>
          <p:cNvPr id="4" name="TextBox 3"/>
          <p:cNvSpPr txBox="1"/>
          <p:nvPr/>
        </p:nvSpPr>
        <p:spPr>
          <a:xfrm>
            <a:off x="1097280" y="2194560"/>
            <a:ext cx="9966960" cy="1828800"/>
          </a:xfrm>
          <a:prstGeom prst="rect">
            <a:avLst/>
          </a:prstGeom>
          <a:noFill/>
          <a:ln w="12700">
            <a:solidFill>
              <a:srgbClr val="333333"/>
            </a:solidFill>
          </a:ln>
        </p:spPr>
        <p:txBody>
          <a:bodyPr wrap="square">
            <a:spAutoFit/>
          </a:bodyPr>
          <a:lstStyle/>
          <a:p>
            <a:pPr algn="ctr"/>
            <a:r>
              <a:rPr sz="2200" b="0">
                <a:latin typeface="Yu Gothic"/>
              </a:rPr>
              <a:t>5枚以下のカードで、</a:t>
            </a:r>
          </a:p>
          <a:p>
            <a:pPr algn="ctr"/>
            <a:r>
              <a:rPr sz="2200" b="1">
                <a:latin typeface="Yu Gothic"/>
              </a:rPr>
              <a:t>一様で閉じたシャッフルのみを使い、</a:t>
            </a:r>
          </a:p>
          <a:p>
            <a:pPr algn="ctr"/>
            <a:r>
              <a:rPr sz="2200" b="0">
                <a:latin typeface="Yu Gothic"/>
              </a:rPr>
              <a:t>コミット型ANDプロトコルを構成できるか？</a:t>
            </a:r>
          </a:p>
        </p:txBody>
      </p:sp>
      <p:sp>
        <p:nvSpPr>
          <p:cNvPr id="5" name="TextBox 4"/>
          <p:cNvSpPr txBox="1"/>
          <p:nvPr/>
        </p:nvSpPr>
        <p:spPr>
          <a:xfrm>
            <a:off x="5669280" y="4114800"/>
            <a:ext cx="914400" cy="548640"/>
          </a:xfrm>
          <a:prstGeom prst="rect">
            <a:avLst/>
          </a:prstGeom>
          <a:noFill/>
        </p:spPr>
        <p:txBody>
          <a:bodyPr wrap="square">
            <a:spAutoFit/>
          </a:bodyPr>
          <a:lstStyle/>
          <a:p>
            <a:pPr algn="ctr"/>
            <a:r>
              <a:rPr sz="2800" b="0">
                <a:solidFill>
                  <a:srgbClr val="000000"/>
                </a:solidFill>
                <a:latin typeface="Yu Gothic"/>
              </a:rPr>
              <a:t>↓</a:t>
            </a:r>
          </a:p>
        </p:txBody>
      </p:sp>
      <p:sp>
        <p:nvSpPr>
          <p:cNvPr id="6" name="TextBox 5"/>
          <p:cNvSpPr txBox="1"/>
          <p:nvPr/>
        </p:nvSpPr>
        <p:spPr>
          <a:xfrm>
            <a:off x="731520" y="4663440"/>
            <a:ext cx="10698480" cy="731520"/>
          </a:xfrm>
          <a:prstGeom prst="rect">
            <a:avLst/>
          </a:prstGeom>
          <a:noFill/>
        </p:spPr>
        <p:txBody>
          <a:bodyPr wrap="square">
            <a:spAutoFit/>
          </a:bodyPr>
          <a:lstStyle/>
          <a:p>
            <a:pPr algn="ctr"/>
            <a:r>
              <a:rPr sz="2200" b="1">
                <a:solidFill>
                  <a:srgbClr val="000000"/>
                </a:solidFill>
                <a:latin typeface="Yu Gothic"/>
              </a:rPr>
              <a:t>本稿では、この未解決問題を肯定的に解決する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a:spAutoFit/>
          </a:bodyPr>
          <a:lstStyle/>
          <a:p>
            <a:pPr algn="l"/>
            <a:r>
              <a:rPr sz="3200" b="0">
                <a:solidFill>
                  <a:srgbClr val="000000"/>
                </a:solidFill>
                <a:latin typeface="Yu Gothic"/>
              </a:rPr>
              <a:t>本稿の貢献</a:t>
            </a:r>
          </a:p>
        </p:txBody>
      </p:sp>
      <p:sp>
        <p:nvSpPr>
          <p:cNvPr id="3" name="TextBox 2"/>
          <p:cNvSpPr txBox="1"/>
          <p:nvPr/>
        </p:nvSpPr>
        <p:spPr>
          <a:xfrm>
            <a:off x="731520" y="1371600"/>
            <a:ext cx="10698480" cy="5029200"/>
          </a:xfrm>
          <a:prstGeom prst="rect">
            <a:avLst/>
          </a:prstGeom>
          <a:noFill/>
        </p:spPr>
        <p:txBody>
          <a:bodyPr wrap="square">
            <a:spAutoFit/>
          </a:bodyPr>
          <a:lstStyle/>
          <a:p>
            <a:pPr>
              <a:spcBef>
                <a:spcPts val="800"/>
              </a:spcBef>
            </a:pPr>
            <a:r>
              <a:rPr sz="2100" b="0">
                <a:solidFill>
                  <a:srgbClr val="000000"/>
                </a:solidFill>
                <a:latin typeface="Yu Gothic"/>
              </a:rPr>
              <a:t>・5枚のカードで、一様で閉じたシャッフルのみを使うコミット型ANDプロトコルを構成</a:t>
            </a:r>
          </a:p>
          <a:p>
            <a:pPr>
              <a:spcBef>
                <a:spcPts val="800"/>
              </a:spcBef>
            </a:pPr>
            <a:r>
              <a:rPr sz="1000" b="0">
                <a:solidFill>
                  <a:srgbClr val="000000"/>
                </a:solidFill>
                <a:latin typeface="Yu Gothic"/>
              </a:rPr>
              <a:t/>
            </a:r>
          </a:p>
          <a:p>
            <a:pPr>
              <a:spcBef>
                <a:spcPts val="800"/>
              </a:spcBef>
            </a:pPr>
            <a:r>
              <a:rPr sz="2100" b="0">
                <a:solidFill>
                  <a:srgbClr val="000000"/>
                </a:solidFill>
                <a:latin typeface="Yu Gothic"/>
              </a:rPr>
              <a:t>・使用するシャッフルはランダムカットとランダム二等分割カットのみ</a:t>
            </a:r>
          </a:p>
          <a:p>
            <a:pPr>
              <a:spcBef>
                <a:spcPts val="800"/>
              </a:spcBef>
            </a:pPr>
            <a:r>
              <a:rPr sz="1000" b="0">
                <a:solidFill>
                  <a:srgbClr val="000000"/>
                </a:solidFill>
                <a:latin typeface="Yu Gothic"/>
              </a:rPr>
              <a:t/>
            </a:r>
          </a:p>
          <a:p>
            <a:pPr>
              <a:spcBef>
                <a:spcPts val="800"/>
              </a:spcBef>
            </a:pPr>
            <a:r>
              <a:rPr sz="2100" b="0">
                <a:solidFill>
                  <a:srgbClr val="000000"/>
                </a:solidFill>
                <a:latin typeface="Yu Gothic"/>
              </a:rPr>
              <a:t>・どちらも人間が容易に実装できることが確認されている</a:t>
            </a:r>
          </a:p>
          <a:p>
            <a:pPr>
              <a:spcBef>
                <a:spcPts val="800"/>
              </a:spcBef>
            </a:pPr>
            <a:r>
              <a:rPr sz="1000" b="0">
                <a:solidFill>
                  <a:srgbClr val="000000"/>
                </a:solidFill>
                <a:latin typeface="Yu Gothic"/>
              </a:rPr>
              <a:t/>
            </a:r>
          </a:p>
          <a:p>
            <a:pPr>
              <a:spcBef>
                <a:spcPts val="800"/>
              </a:spcBef>
            </a:pPr>
            <a:r>
              <a:rPr sz="2100" b="1">
                <a:solidFill>
                  <a:srgbClr val="000000"/>
                </a:solidFill>
                <a:latin typeface="Yu Gothic"/>
              </a:rPr>
              <a:t>・提案プロトコルは人間が実際に実行することが可能である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