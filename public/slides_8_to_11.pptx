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a:spAutoFit/>
          </a:bodyPr>
          <a:lstStyle/>
          <a:p>
            <a:pPr algn="l"/>
            <a:r>
              <a:rPr sz="3200" b="0">
                <a:solidFill>
                  <a:srgbClr val="000000"/>
                </a:solidFill>
                <a:latin typeface="Yu Gothic"/>
              </a:rPr>
              <a:t>表1の再確認</a:t>
            </a:r>
          </a:p>
        </p:txBody>
      </p:sp>
      <p:graphicFrame>
        <p:nvGraphicFramePr>
          <p:cNvPr id="3" name="Table 2"/>
          <p:cNvGraphicFramePr>
            <a:graphicFrameLocks noGrp="1"/>
          </p:cNvGraphicFramePr>
          <p:nvPr/>
        </p:nvGraphicFramePr>
        <p:xfrm>
          <a:off x="731520" y="1280160"/>
          <a:ext cx="10698480" cy="4206240"/>
        </p:xfrm>
        <a:graphic>
          <a:graphicData uri="http://schemas.openxmlformats.org/drawingml/2006/table">
            <a:tbl>
              <a:tblPr firstRow="1" bandRow="1">
                <a:tableStyleId>{5C22544A-7EE6-4342-B048-85BDC9FD1C3A}</a:tableStyleId>
              </a:tblPr>
              <a:tblGrid>
                <a:gridCol w="4114800"/>
                <a:gridCol w="822960"/>
                <a:gridCol w="1737360"/>
                <a:gridCol w="2011680"/>
                <a:gridCol w="2011680"/>
              </a:tblGrid>
              <a:tr h="600891">
                <a:tc>
                  <a:txBody>
                    <a:bodyPr/>
                    <a:lstStyle/>
                    <a:p>
                      <a:pPr algn="ctr"/>
                      <a:r>
                        <a:rPr sz="1500" b="1">
                          <a:latin typeface="Yu Gothic"/>
                        </a:rPr>
                        <a:t>プロトコル</a:t>
                      </a:r>
                    </a:p>
                  </a:txBody>
                  <a:tcPr>
                    <a:noFill/>
                  </a:tcPr>
                </a:tc>
                <a:tc>
                  <a:txBody>
                    <a:bodyPr/>
                    <a:lstStyle/>
                    <a:p>
                      <a:pPr algn="ctr"/>
                      <a:r>
                        <a:rPr sz="1500" b="1">
                          <a:latin typeface="Yu Gothic"/>
                        </a:rPr>
                        <a:t>枚数</a:t>
                      </a:r>
                    </a:p>
                  </a:txBody>
                  <a:tcPr>
                    <a:noFill/>
                  </a:tcPr>
                </a:tc>
                <a:tc>
                  <a:txBody>
                    <a:bodyPr/>
                    <a:lstStyle/>
                    <a:p>
                      <a:pPr algn="ctr"/>
                      <a:r>
                        <a:rPr sz="1500" b="1">
                          <a:latin typeface="Yu Gothic"/>
                        </a:rPr>
                        <a:t>有限回数か？</a:t>
                      </a:r>
                    </a:p>
                  </a:txBody>
                  <a:tcPr>
                    <a:noFill/>
                  </a:tcPr>
                </a:tc>
                <a:tc>
                  <a:txBody>
                    <a:bodyPr/>
                    <a:lstStyle/>
                    <a:p>
                      <a:pPr algn="ctr"/>
                      <a:r>
                        <a:rPr sz="1500" b="1">
                          <a:latin typeface="Yu Gothic"/>
                        </a:rPr>
                        <a:t>閉じているか？</a:t>
                      </a:r>
                    </a:p>
                  </a:txBody>
                  <a:tcPr>
                    <a:noFill/>
                  </a:tcPr>
                </a:tc>
                <a:tc>
                  <a:txBody>
                    <a:bodyPr/>
                    <a:lstStyle/>
                    <a:p>
                      <a:pPr algn="ctr"/>
                      <a:r>
                        <a:rPr sz="1500" b="1">
                          <a:latin typeface="Yu Gothic"/>
                        </a:rPr>
                        <a:t>一様分布か？</a:t>
                      </a:r>
                    </a:p>
                  </a:txBody>
                  <a:tcPr>
                    <a:noFill/>
                  </a:tcPr>
                </a:tc>
              </a:tr>
              <a:tr h="600891">
                <a:tc>
                  <a:txBody>
                    <a:bodyPr/>
                    <a:lstStyle/>
                    <a:p>
                      <a:pPr algn="l"/>
                      <a:r>
                        <a:rPr sz="1400">
                          <a:latin typeface="Yu Gothic"/>
                        </a:rPr>
                        <a:t>Crépeau-Kilian, 1993</a:t>
                      </a:r>
                    </a:p>
                  </a:txBody>
                  <a:tcPr>
                    <a:noFill/>
                  </a:tcPr>
                </a:tc>
                <a:tc>
                  <a:txBody>
                    <a:bodyPr/>
                    <a:lstStyle/>
                    <a:p>
                      <a:pPr algn="ctr"/>
                      <a:r>
                        <a:rPr sz="1400">
                          <a:latin typeface="Yu Gothic"/>
                        </a:rPr>
                        <a:t>10</a:t>
                      </a:r>
                    </a:p>
                  </a:txBody>
                  <a:tcPr>
                    <a:noFill/>
                  </a:tcPr>
                </a:tc>
                <a:tc>
                  <a:txBody>
                    <a:bodyPr/>
                    <a:lstStyle/>
                    <a:p>
                      <a:pPr algn="ctr"/>
                      <a:r>
                        <a:rPr sz="1400">
                          <a:latin typeface="Yu Gothic"/>
                        </a:rPr>
                        <a:t>no</a:t>
                      </a:r>
                    </a:p>
                  </a:txBody>
                  <a:tcPr>
                    <a:noFill/>
                  </a:tcPr>
                </a:tc>
                <a:tc>
                  <a:txBody>
                    <a:bodyPr/>
                    <a:lstStyle/>
                    <a:p>
                      <a:pPr algn="ctr"/>
                      <a:r>
                        <a:rPr sz="1400">
                          <a:latin typeface="Yu Gothic"/>
                        </a:rPr>
                        <a:t>yes</a:t>
                      </a:r>
                    </a:p>
                  </a:txBody>
                  <a:tcPr>
                    <a:noFill/>
                  </a:tcPr>
                </a:tc>
                <a:tc>
                  <a:txBody>
                    <a:bodyPr/>
                    <a:lstStyle/>
                    <a:p>
                      <a:pPr algn="ctr"/>
                      <a:r>
                        <a:rPr sz="1400">
                          <a:latin typeface="Yu Gothic"/>
                        </a:rPr>
                        <a:t>yes</a:t>
                      </a:r>
                    </a:p>
                  </a:txBody>
                  <a:tcPr>
                    <a:noFill/>
                  </a:tcPr>
                </a:tc>
              </a:tr>
              <a:tr h="600891">
                <a:tc>
                  <a:txBody>
                    <a:bodyPr/>
                    <a:lstStyle/>
                    <a:p>
                      <a:pPr algn="l"/>
                      <a:r>
                        <a:rPr sz="1400">
                          <a:latin typeface="Yu Gothic"/>
                        </a:rPr>
                        <a:t>Niemi-Renvall, 1998</a:t>
                      </a:r>
                    </a:p>
                  </a:txBody>
                  <a:tcPr>
                    <a:noFill/>
                  </a:tcPr>
                </a:tc>
                <a:tc>
                  <a:txBody>
                    <a:bodyPr/>
                    <a:lstStyle/>
                    <a:p>
                      <a:pPr algn="ctr"/>
                      <a:r>
                        <a:rPr sz="1400">
                          <a:latin typeface="Yu Gothic"/>
                        </a:rPr>
                        <a:t>12</a:t>
                      </a:r>
                    </a:p>
                  </a:txBody>
                  <a:tcPr>
                    <a:noFill/>
                  </a:tcPr>
                </a:tc>
                <a:tc>
                  <a:txBody>
                    <a:bodyPr/>
                    <a:lstStyle/>
                    <a:p>
                      <a:pPr algn="ctr"/>
                      <a:r>
                        <a:rPr sz="1400">
                          <a:latin typeface="Yu Gothic"/>
                        </a:rPr>
                        <a:t>no</a:t>
                      </a:r>
                    </a:p>
                  </a:txBody>
                  <a:tcPr>
                    <a:noFill/>
                  </a:tcPr>
                </a:tc>
                <a:tc>
                  <a:txBody>
                    <a:bodyPr/>
                    <a:lstStyle/>
                    <a:p>
                      <a:pPr algn="ctr"/>
                      <a:r>
                        <a:rPr sz="1400">
                          <a:latin typeface="Yu Gothic"/>
                        </a:rPr>
                        <a:t>yes</a:t>
                      </a:r>
                    </a:p>
                  </a:txBody>
                  <a:tcPr>
                    <a:noFill/>
                  </a:tcPr>
                </a:tc>
                <a:tc>
                  <a:txBody>
                    <a:bodyPr/>
                    <a:lstStyle/>
                    <a:p>
                      <a:pPr algn="ctr"/>
                      <a:r>
                        <a:rPr sz="1400">
                          <a:latin typeface="Yu Gothic"/>
                        </a:rPr>
                        <a:t>yes</a:t>
                      </a:r>
                    </a:p>
                  </a:txBody>
                  <a:tcPr>
                    <a:noFill/>
                  </a:tcPr>
                </a:tc>
              </a:tr>
              <a:tr h="600891">
                <a:tc>
                  <a:txBody>
                    <a:bodyPr/>
                    <a:lstStyle/>
                    <a:p>
                      <a:pPr algn="l"/>
                      <a:r>
                        <a:rPr sz="1400">
                          <a:latin typeface="Yu Gothic"/>
                        </a:rPr>
                        <a:t>Stiglic, 2001</a:t>
                      </a:r>
                    </a:p>
                  </a:txBody>
                  <a:tcPr>
                    <a:noFill/>
                  </a:tcPr>
                </a:tc>
                <a:tc>
                  <a:txBody>
                    <a:bodyPr/>
                    <a:lstStyle/>
                    <a:p>
                      <a:pPr algn="ctr"/>
                      <a:r>
                        <a:rPr sz="1400">
                          <a:latin typeface="Yu Gothic"/>
                        </a:rPr>
                        <a:t>8</a:t>
                      </a:r>
                    </a:p>
                  </a:txBody>
                  <a:tcPr>
                    <a:noFill/>
                  </a:tcPr>
                </a:tc>
                <a:tc>
                  <a:txBody>
                    <a:bodyPr/>
                    <a:lstStyle/>
                    <a:p>
                      <a:pPr algn="ctr"/>
                      <a:r>
                        <a:rPr sz="1400">
                          <a:latin typeface="Yu Gothic"/>
                        </a:rPr>
                        <a:t>no</a:t>
                      </a:r>
                    </a:p>
                  </a:txBody>
                  <a:tcPr>
                    <a:noFill/>
                  </a:tcPr>
                </a:tc>
                <a:tc>
                  <a:txBody>
                    <a:bodyPr/>
                    <a:lstStyle/>
                    <a:p>
                      <a:pPr algn="ctr"/>
                      <a:r>
                        <a:rPr sz="1400">
                          <a:latin typeface="Yu Gothic"/>
                        </a:rPr>
                        <a:t>yes</a:t>
                      </a:r>
                    </a:p>
                  </a:txBody>
                  <a:tcPr>
                    <a:noFill/>
                  </a:tcPr>
                </a:tc>
                <a:tc>
                  <a:txBody>
                    <a:bodyPr/>
                    <a:lstStyle/>
                    <a:p>
                      <a:pPr algn="ctr"/>
                      <a:r>
                        <a:rPr sz="1400">
                          <a:latin typeface="Yu Gothic"/>
                        </a:rPr>
                        <a:t>yes</a:t>
                      </a:r>
                    </a:p>
                  </a:txBody>
                  <a:tcPr>
                    <a:noFill/>
                  </a:tcPr>
                </a:tc>
              </a:tr>
              <a:tr h="600891">
                <a:tc>
                  <a:txBody>
                    <a:bodyPr/>
                    <a:lstStyle/>
                    <a:p>
                      <a:pPr algn="l"/>
                      <a:r>
                        <a:rPr sz="1400">
                          <a:latin typeface="Yu Gothic"/>
                        </a:rPr>
                        <a:t>Mizuki-Sone, 2009</a:t>
                      </a:r>
                    </a:p>
                  </a:txBody>
                  <a:tcPr>
                    <a:noFill/>
                  </a:tcPr>
                </a:tc>
                <a:tc>
                  <a:txBody>
                    <a:bodyPr/>
                    <a:lstStyle/>
                    <a:p>
                      <a:pPr algn="ctr"/>
                      <a:r>
                        <a:rPr sz="1400">
                          <a:latin typeface="Yu Gothic"/>
                        </a:rPr>
                        <a:t>6</a:t>
                      </a:r>
                    </a:p>
                  </a:txBody>
                  <a:tcPr>
                    <a:noFill/>
                  </a:tcPr>
                </a:tc>
                <a:tc>
                  <a:txBody>
                    <a:bodyPr/>
                    <a:lstStyle/>
                    <a:p>
                      <a:pPr algn="ctr"/>
                      <a:r>
                        <a:rPr sz="1400">
                          <a:latin typeface="Yu Gothic"/>
                        </a:rPr>
                        <a:t>yes</a:t>
                      </a:r>
                    </a:p>
                  </a:txBody>
                  <a:tcPr>
                    <a:noFill/>
                  </a:tcPr>
                </a:tc>
                <a:tc>
                  <a:txBody>
                    <a:bodyPr/>
                    <a:lstStyle/>
                    <a:p>
                      <a:pPr algn="ctr"/>
                      <a:r>
                        <a:rPr sz="1400">
                          <a:latin typeface="Yu Gothic"/>
                        </a:rPr>
                        <a:t>yes</a:t>
                      </a:r>
                    </a:p>
                  </a:txBody>
                  <a:tcPr>
                    <a:noFill/>
                  </a:tcPr>
                </a:tc>
                <a:tc>
                  <a:txBody>
                    <a:bodyPr/>
                    <a:lstStyle/>
                    <a:p>
                      <a:pPr algn="ctr"/>
                      <a:r>
                        <a:rPr sz="1400">
                          <a:latin typeface="Yu Gothic"/>
                        </a:rPr>
                        <a:t>yes</a:t>
                      </a:r>
                    </a:p>
                  </a:txBody>
                  <a:tcPr>
                    <a:noFill/>
                  </a:tcPr>
                </a:tc>
              </a:tr>
              <a:tr h="600891">
                <a:tc>
                  <a:txBody>
                    <a:bodyPr/>
                    <a:lstStyle/>
                    <a:p>
                      <a:pPr algn="l"/>
                      <a:r>
                        <a:rPr sz="1400">
                          <a:latin typeface="Yu Gothic"/>
                        </a:rPr>
                        <a:t>Koch-Walzer-Härtel, 2015 (4枚)</a:t>
                      </a:r>
                    </a:p>
                  </a:txBody>
                  <a:tcPr>
                    <a:noFill/>
                  </a:tcPr>
                </a:tc>
                <a:tc>
                  <a:txBody>
                    <a:bodyPr/>
                    <a:lstStyle/>
                    <a:p>
                      <a:pPr algn="ctr"/>
                      <a:r>
                        <a:rPr sz="1400">
                          <a:latin typeface="Yu Gothic"/>
                        </a:rPr>
                        <a:t>4</a:t>
                      </a:r>
                    </a:p>
                  </a:txBody>
                  <a:tcPr>
                    <a:noFill/>
                  </a:tcPr>
                </a:tc>
                <a:tc>
                  <a:txBody>
                    <a:bodyPr/>
                    <a:lstStyle/>
                    <a:p>
                      <a:pPr algn="ctr"/>
                      <a:r>
                        <a:rPr sz="1400">
                          <a:latin typeface="Yu Gothic"/>
                        </a:rPr>
                        <a:t>no</a:t>
                      </a:r>
                    </a:p>
                  </a:txBody>
                  <a:tcPr>
                    <a:noFill/>
                  </a:tcPr>
                </a:tc>
                <a:tc>
                  <a:txBody>
                    <a:bodyPr/>
                    <a:lstStyle/>
                    <a:p>
                      <a:pPr algn="ctr"/>
                      <a:r>
                        <a:rPr sz="1400">
                          <a:latin typeface="Yu Gothic"/>
                        </a:rPr>
                        <a:t>yes</a:t>
                      </a:r>
                    </a:p>
                  </a:txBody>
                  <a:tcPr>
                    <a:noFill/>
                  </a:tcPr>
                </a:tc>
                <a:tc>
                  <a:txBody>
                    <a:bodyPr/>
                    <a:lstStyle/>
                    <a:p>
                      <a:pPr algn="ctr"/>
                      <a:r>
                        <a:rPr sz="1400">
                          <a:latin typeface="Yu Gothic"/>
                        </a:rPr>
                        <a:t>no</a:t>
                      </a:r>
                    </a:p>
                  </a:txBody>
                  <a:tcPr>
                    <a:noFill/>
                  </a:tcPr>
                </a:tc>
              </a:tr>
              <a:tr h="600894">
                <a:tc>
                  <a:txBody>
                    <a:bodyPr/>
                    <a:lstStyle/>
                    <a:p>
                      <a:pPr algn="l"/>
                      <a:r>
                        <a:rPr sz="1400">
                          <a:latin typeface="Yu Gothic"/>
                        </a:rPr>
                        <a:t>Koch-Walzer-Härtel, 2015 (5枚)</a:t>
                      </a:r>
                    </a:p>
                  </a:txBody>
                  <a:tcPr>
                    <a:noFill/>
                  </a:tcPr>
                </a:tc>
                <a:tc>
                  <a:txBody>
                    <a:bodyPr/>
                    <a:lstStyle/>
                    <a:p>
                      <a:pPr algn="ctr"/>
                      <a:r>
                        <a:rPr sz="1400">
                          <a:latin typeface="Yu Gothic"/>
                        </a:rPr>
                        <a:t>5</a:t>
                      </a:r>
                    </a:p>
                  </a:txBody>
                  <a:tcPr>
                    <a:noFill/>
                  </a:tcPr>
                </a:tc>
                <a:tc>
                  <a:txBody>
                    <a:bodyPr/>
                    <a:lstStyle/>
                    <a:p>
                      <a:pPr algn="ctr"/>
                      <a:r>
                        <a:rPr sz="1400">
                          <a:latin typeface="Yu Gothic"/>
                        </a:rPr>
                        <a:t>yes</a:t>
                      </a:r>
                    </a:p>
                  </a:txBody>
                  <a:tcPr>
                    <a:noFill/>
                  </a:tcPr>
                </a:tc>
                <a:tc>
                  <a:txBody>
                    <a:bodyPr/>
                    <a:lstStyle/>
                    <a:p>
                      <a:pPr algn="ctr"/>
                      <a:r>
                        <a:rPr sz="1400">
                          <a:latin typeface="Yu Gothic"/>
                        </a:rPr>
                        <a:t>no</a:t>
                      </a:r>
                    </a:p>
                  </a:txBody>
                  <a:tcPr>
                    <a:noFill/>
                  </a:tcPr>
                </a:tc>
                <a:tc>
                  <a:txBody>
                    <a:bodyPr/>
                    <a:lstStyle/>
                    <a:p>
                      <a:pPr algn="ctr"/>
                      <a:r>
                        <a:rPr sz="1400">
                          <a:latin typeface="Yu Gothic"/>
                        </a:rPr>
                        <a:t>no</a:t>
                      </a:r>
                    </a:p>
                  </a:txBody>
                  <a:tcPr>
                    <a:noFill/>
                  </a:tcPr>
                </a:tc>
              </a:tr>
            </a:tbl>
          </a:graphicData>
        </a:graphic>
      </p:graphicFrame>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a:spAutoFit/>
          </a:bodyPr>
          <a:lstStyle/>
          <a:p>
            <a:pPr algn="l"/>
            <a:r>
              <a:rPr sz="3200" b="0">
                <a:solidFill>
                  <a:srgbClr val="000000"/>
                </a:solidFill>
                <a:latin typeface="Yu Gothic"/>
              </a:rPr>
              <a:t>表1から読み取れること</a:t>
            </a:r>
          </a:p>
        </p:txBody>
      </p:sp>
      <p:sp>
        <p:nvSpPr>
          <p:cNvPr id="3" name="TextBox 2"/>
          <p:cNvSpPr txBox="1"/>
          <p:nvPr/>
        </p:nvSpPr>
        <p:spPr>
          <a:xfrm>
            <a:off x="731520" y="1371600"/>
            <a:ext cx="10698480" cy="5029200"/>
          </a:xfrm>
          <a:prstGeom prst="rect">
            <a:avLst/>
          </a:prstGeom>
          <a:noFill/>
        </p:spPr>
        <p:txBody>
          <a:bodyPr wrap="square">
            <a:spAutoFit/>
          </a:bodyPr>
          <a:lstStyle/>
          <a:p>
            <a:pPr>
              <a:spcBef>
                <a:spcPts val="800"/>
              </a:spcBef>
            </a:pPr>
            <a:r>
              <a:rPr sz="2100" b="0">
                <a:solidFill>
                  <a:srgbClr val="000000"/>
                </a:solidFill>
                <a:latin typeface="Yu Gothic"/>
              </a:rPr>
              <a:t>・2009年までの4つのプロトコルは「閉じているか？」「一様分布か？」が全て yes</a:t>
            </a:r>
          </a:p>
          <a:p>
            <a:pPr>
              <a:spcBef>
                <a:spcPts val="800"/>
              </a:spcBef>
            </a:pPr>
            <a:r>
              <a:rPr sz="1900" b="0">
                <a:solidFill>
                  <a:srgbClr val="000000"/>
                </a:solidFill>
                <a:latin typeface="Yu Gothic"/>
              </a:rPr>
              <a:t>  → ランダムカットまたはランダム二等分割カットのみを使用</a:t>
            </a:r>
          </a:p>
          <a:p>
            <a:pPr>
              <a:spcBef>
                <a:spcPts val="800"/>
              </a:spcBef>
            </a:pPr>
            <a:r>
              <a:rPr sz="1000" b="0">
                <a:solidFill>
                  <a:srgbClr val="000000"/>
                </a:solidFill>
                <a:latin typeface="Yu Gothic"/>
              </a:rPr>
              <a:t/>
            </a:r>
          </a:p>
          <a:p>
            <a:pPr>
              <a:spcBef>
                <a:spcPts val="800"/>
              </a:spcBef>
            </a:pPr>
            <a:r>
              <a:rPr sz="2100" b="0">
                <a:solidFill>
                  <a:srgbClr val="000000"/>
                </a:solidFill>
                <a:latin typeface="Yu Gothic"/>
              </a:rPr>
              <a:t>・Koch-Walzer-Härtelのプロトコルは「閉じていない」または「一様でない」シャッフルを使用</a:t>
            </a:r>
          </a:p>
          <a:p>
            <a:pPr>
              <a:spcBef>
                <a:spcPts val="800"/>
              </a:spcBef>
            </a:pPr>
            <a:r>
              <a:rPr sz="1900" b="0">
                <a:solidFill>
                  <a:srgbClr val="000000"/>
                </a:solidFill>
                <a:latin typeface="Yu Gothic"/>
              </a:rPr>
              <a:t>  → 確率が均等でないシャッフルは、人間が実際に実装するのが難しい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a:spAutoFit/>
          </a:bodyPr>
          <a:lstStyle/>
          <a:p>
            <a:pPr algn="l"/>
            <a:r>
              <a:rPr sz="3200" b="0">
                <a:solidFill>
                  <a:srgbClr val="000000"/>
                </a:solidFill>
                <a:latin typeface="Yu Gothic"/>
              </a:rPr>
              <a:t>未解決問題</a:t>
            </a:r>
          </a:p>
        </p:txBody>
      </p:sp>
      <p:sp>
        <p:nvSpPr>
          <p:cNvPr id="3" name="TextBox 2"/>
          <p:cNvSpPr txBox="1"/>
          <p:nvPr/>
        </p:nvSpPr>
        <p:spPr>
          <a:xfrm>
            <a:off x="731520" y="1371600"/>
            <a:ext cx="10698480" cy="731520"/>
          </a:xfrm>
          <a:prstGeom prst="rect">
            <a:avLst/>
          </a:prstGeom>
          <a:noFill/>
        </p:spPr>
        <p:txBody>
          <a:bodyPr wrap="square">
            <a:spAutoFit/>
          </a:bodyPr>
          <a:lstStyle/>
          <a:p>
            <a:pPr algn="l"/>
            <a:r>
              <a:rPr sz="2000" b="0">
                <a:solidFill>
                  <a:srgbClr val="000000"/>
                </a:solidFill>
                <a:latin typeface="Yu Gothic"/>
              </a:rPr>
              <a:t>以上の背景から、この研究分野の最も興味深い未解決問題の一つが生じる。</a:t>
            </a:r>
          </a:p>
        </p:txBody>
      </p:sp>
      <p:sp>
        <p:nvSpPr>
          <p:cNvPr id="4" name="TextBox 3"/>
          <p:cNvSpPr txBox="1"/>
          <p:nvPr/>
        </p:nvSpPr>
        <p:spPr>
          <a:xfrm>
            <a:off x="1097280" y="2194560"/>
            <a:ext cx="9966960" cy="1828800"/>
          </a:xfrm>
          <a:prstGeom prst="rect">
            <a:avLst/>
          </a:prstGeom>
          <a:noFill/>
          <a:ln w="12700">
            <a:solidFill>
              <a:srgbClr val="333333"/>
            </a:solidFill>
          </a:ln>
        </p:spPr>
        <p:txBody>
          <a:bodyPr wrap="square">
            <a:spAutoFit/>
          </a:bodyPr>
          <a:lstStyle/>
          <a:p>
            <a:pPr algn="ctr"/>
            <a:r>
              <a:rPr sz="2200" b="0">
                <a:latin typeface="Yu Gothic"/>
              </a:rPr>
              <a:t>5枚以下のカードで、</a:t>
            </a:r>
          </a:p>
          <a:p>
            <a:pPr algn="ctr"/>
            <a:r>
              <a:rPr sz="2200" b="1">
                <a:latin typeface="Yu Gothic"/>
              </a:rPr>
              <a:t>一様で閉じたシャッフルのみを使い、</a:t>
            </a:r>
          </a:p>
          <a:p>
            <a:pPr algn="ctr"/>
            <a:r>
              <a:rPr sz="2200" b="0">
                <a:latin typeface="Yu Gothic"/>
              </a:rPr>
              <a:t>コミット型ANDプロトコルを構成できるか？</a:t>
            </a:r>
          </a:p>
        </p:txBody>
      </p:sp>
      <p:sp>
        <p:nvSpPr>
          <p:cNvPr id="5" name="TextBox 4"/>
          <p:cNvSpPr txBox="1"/>
          <p:nvPr/>
        </p:nvSpPr>
        <p:spPr>
          <a:xfrm>
            <a:off x="5669280" y="4114800"/>
            <a:ext cx="914400" cy="548640"/>
          </a:xfrm>
          <a:prstGeom prst="rect">
            <a:avLst/>
          </a:prstGeom>
          <a:noFill/>
        </p:spPr>
        <p:txBody>
          <a:bodyPr wrap="square">
            <a:spAutoFit/>
          </a:bodyPr>
          <a:lstStyle/>
          <a:p>
            <a:pPr algn="ctr"/>
            <a:r>
              <a:rPr sz="2800" b="0">
                <a:solidFill>
                  <a:srgbClr val="000000"/>
                </a:solidFill>
                <a:latin typeface="Yu Gothic"/>
              </a:rPr>
              <a:t>↓</a:t>
            </a:r>
          </a:p>
        </p:txBody>
      </p:sp>
      <p:sp>
        <p:nvSpPr>
          <p:cNvPr id="6" name="TextBox 5"/>
          <p:cNvSpPr txBox="1"/>
          <p:nvPr/>
        </p:nvSpPr>
        <p:spPr>
          <a:xfrm>
            <a:off x="731520" y="4663440"/>
            <a:ext cx="10698480" cy="731520"/>
          </a:xfrm>
          <a:prstGeom prst="rect">
            <a:avLst/>
          </a:prstGeom>
          <a:noFill/>
        </p:spPr>
        <p:txBody>
          <a:bodyPr wrap="square">
            <a:spAutoFit/>
          </a:bodyPr>
          <a:lstStyle/>
          <a:p>
            <a:pPr algn="ctr"/>
            <a:r>
              <a:rPr sz="2200" b="1">
                <a:solidFill>
                  <a:srgbClr val="000000"/>
                </a:solidFill>
                <a:latin typeface="Yu Gothic"/>
              </a:rPr>
              <a:t>本稿では、この未解決問題を肯定的に解決する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a:spAutoFit/>
          </a:bodyPr>
          <a:lstStyle/>
          <a:p>
            <a:pPr algn="l"/>
            <a:r>
              <a:rPr sz="3200" b="0">
                <a:solidFill>
                  <a:srgbClr val="000000"/>
                </a:solidFill>
                <a:latin typeface="Yu Gothic"/>
              </a:rPr>
              <a:t>本稿の貢献</a:t>
            </a:r>
          </a:p>
        </p:txBody>
      </p:sp>
      <p:sp>
        <p:nvSpPr>
          <p:cNvPr id="3" name="TextBox 2"/>
          <p:cNvSpPr txBox="1"/>
          <p:nvPr/>
        </p:nvSpPr>
        <p:spPr>
          <a:xfrm>
            <a:off x="731520" y="1371600"/>
            <a:ext cx="10698480" cy="5029200"/>
          </a:xfrm>
          <a:prstGeom prst="rect">
            <a:avLst/>
          </a:prstGeom>
          <a:noFill/>
        </p:spPr>
        <p:txBody>
          <a:bodyPr wrap="square">
            <a:spAutoFit/>
          </a:bodyPr>
          <a:lstStyle/>
          <a:p>
            <a:pPr>
              <a:spcBef>
                <a:spcPts val="800"/>
              </a:spcBef>
            </a:pPr>
            <a:r>
              <a:rPr sz="2100" b="0">
                <a:solidFill>
                  <a:srgbClr val="000000"/>
                </a:solidFill>
                <a:latin typeface="Yu Gothic"/>
              </a:rPr>
              <a:t>・5枚のカードで、一様で閉じたシャッフルのみを使うコミット型ANDプロトコルを構成</a:t>
            </a:r>
          </a:p>
          <a:p>
            <a:pPr>
              <a:spcBef>
                <a:spcPts val="800"/>
              </a:spcBef>
            </a:pPr>
            <a:r>
              <a:rPr sz="1000" b="0">
                <a:solidFill>
                  <a:srgbClr val="000000"/>
                </a:solidFill>
                <a:latin typeface="Yu Gothic"/>
              </a:rPr>
              <a:t/>
            </a:r>
          </a:p>
          <a:p>
            <a:pPr>
              <a:spcBef>
                <a:spcPts val="800"/>
              </a:spcBef>
            </a:pPr>
            <a:r>
              <a:rPr sz="2100" b="0">
                <a:solidFill>
                  <a:srgbClr val="000000"/>
                </a:solidFill>
                <a:latin typeface="Yu Gothic"/>
              </a:rPr>
              <a:t>・使用するシャッフルはランダムカットとランダム二等分割カットのみ</a:t>
            </a:r>
          </a:p>
          <a:p>
            <a:pPr>
              <a:spcBef>
                <a:spcPts val="800"/>
              </a:spcBef>
            </a:pPr>
            <a:r>
              <a:rPr sz="1000" b="0">
                <a:solidFill>
                  <a:srgbClr val="000000"/>
                </a:solidFill>
                <a:latin typeface="Yu Gothic"/>
              </a:rPr>
              <a:t/>
            </a:r>
          </a:p>
          <a:p>
            <a:pPr>
              <a:spcBef>
                <a:spcPts val="800"/>
              </a:spcBef>
            </a:pPr>
            <a:r>
              <a:rPr sz="2100" b="0">
                <a:solidFill>
                  <a:srgbClr val="000000"/>
                </a:solidFill>
                <a:latin typeface="Yu Gothic"/>
              </a:rPr>
              <a:t>・どちらも人間が容易に実装できることが確認されている</a:t>
            </a:r>
          </a:p>
          <a:p>
            <a:pPr>
              <a:spcBef>
                <a:spcPts val="800"/>
              </a:spcBef>
            </a:pPr>
            <a:r>
              <a:rPr sz="1000" b="0">
                <a:solidFill>
                  <a:srgbClr val="000000"/>
                </a:solidFill>
                <a:latin typeface="Yu Gothic"/>
              </a:rPr>
              <a:t/>
            </a:r>
          </a:p>
          <a:p>
            <a:pPr>
              <a:spcBef>
                <a:spcPts val="800"/>
              </a:spcBef>
            </a:pPr>
            <a:r>
              <a:rPr sz="2100" b="1">
                <a:solidFill>
                  <a:srgbClr val="000000"/>
                </a:solidFill>
                <a:latin typeface="Yu Gothic"/>
              </a:rPr>
              <a:t>・提案プロトコルは人間が実際に実行することが可能である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